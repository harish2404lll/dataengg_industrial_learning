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7" r:id="rId7"/>
    <p:sldId id="261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8/21/2026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8/21/2026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6A79B-1BEA-8385-7A1C-FABC70DE6E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MACSE503: Enterprise Healthcare Data Platform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24ACF-1F29-8D2D-47B6-AA82A69818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sz="3200" dirty="0"/>
              <a:t>Sprint 0</a:t>
            </a:r>
          </a:p>
        </p:txBody>
      </p:sp>
    </p:spTree>
    <p:extLst>
      <p:ext uri="{BB962C8B-B14F-4D97-AF65-F5344CB8AC3E}">
        <p14:creationId xmlns:p14="http://schemas.microsoft.com/office/powerpoint/2010/main" val="155785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04C56-0474-329B-589C-4D1229B55E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2B7CAB-B8CD-21C6-A0A7-88094DA66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661653"/>
            <a:ext cx="8596668" cy="4379710"/>
          </a:xfrm>
        </p:spPr>
        <p:txBody>
          <a:bodyPr/>
          <a:lstStyle/>
          <a:p>
            <a:r>
              <a:rPr lang="en-IN" dirty="0"/>
              <a:t>For smoother and more timely workflow of hospital operations, we propose an </a:t>
            </a:r>
            <a:r>
              <a:rPr lang="en-IN" b="1" dirty="0"/>
              <a:t>Enterprise Healthcare Data Platform (EHDP), </a:t>
            </a:r>
            <a:r>
              <a:rPr lang="en-IN" dirty="0"/>
              <a:t>an end-to-end data engineering initiative for multi-hospital data integrations.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This platform ingests, profiles, transforms, validates and stores healthcare data to deliver trusted datasets for analytics, reporting and executive decision-making.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platform will be built over a 3-month Agile delivery cycle incremented as sprints.</a:t>
            </a:r>
          </a:p>
        </p:txBody>
      </p:sp>
    </p:spTree>
    <p:extLst>
      <p:ext uri="{BB962C8B-B14F-4D97-AF65-F5344CB8AC3E}">
        <p14:creationId xmlns:p14="http://schemas.microsoft.com/office/powerpoint/2010/main" val="4233106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01024-4391-7A00-DB0F-25B79A0BB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just"/>
            <a:r>
              <a:rPr lang="en-IN" sz="3200" dirty="0">
                <a:solidFill>
                  <a:srgbClr val="002060"/>
                </a:solidFill>
              </a:rPr>
              <a:t>To understand the healthcare ecosystem and design an enterprise health data platform that aggregates, prepares and encapsulates datasets from different aspects of health.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1BDE9D-6BEE-D989-5599-F957173027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B11D93-6B74-77E2-41DB-91B42CC62C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IN" sz="44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Business Objective</a:t>
            </a:r>
          </a:p>
        </p:txBody>
      </p:sp>
    </p:spTree>
    <p:extLst>
      <p:ext uri="{BB962C8B-B14F-4D97-AF65-F5344CB8AC3E}">
        <p14:creationId xmlns:p14="http://schemas.microsoft.com/office/powerpoint/2010/main" val="215183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A9C02-97F7-3D46-1510-6C7680F8F6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Technology Stack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E5A19CB-1430-1E8B-9D07-37A015CCAE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6517458"/>
              </p:ext>
            </p:extLst>
          </p:nvPr>
        </p:nvGraphicFramePr>
        <p:xfrm>
          <a:off x="677863" y="2160588"/>
          <a:ext cx="8596312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156">
                  <a:extLst>
                    <a:ext uri="{9D8B030D-6E8A-4147-A177-3AD203B41FA5}">
                      <a16:colId xmlns:a16="http://schemas.microsoft.com/office/drawing/2014/main" val="3666476536"/>
                    </a:ext>
                  </a:extLst>
                </a:gridCol>
                <a:gridCol w="4298156">
                  <a:extLst>
                    <a:ext uri="{9D8B030D-6E8A-4147-A177-3AD203B41FA5}">
                      <a16:colId xmlns:a16="http://schemas.microsoft.com/office/drawing/2014/main" val="4201080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Technology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6994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ETL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Pentaho Data Integration (Spoon)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8786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PostgreSQL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89257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Programming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Python (Pandas)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8615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Version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Git &amp; GitHub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86675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Reporting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Power BI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39243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Documentation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Markdown/</a:t>
                      </a:r>
                      <a:r>
                        <a:rPr lang="en-IN"/>
                        <a:t>MS Word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4217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Project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Agile Scrum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27641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7836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7C5A8A-00FC-F067-93BA-A19F93267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E813F-7BC5-F183-B2BA-2332DDA6E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Develop source inventory and data dictionary (guide to all features)</a:t>
            </a:r>
          </a:p>
          <a:p>
            <a:r>
              <a:rPr lang="en-IN" dirty="0"/>
              <a:t>Build ETL pipelines with Pentaho Data Integration (Spoon) to ingest, clean, validate and standardize data</a:t>
            </a:r>
          </a:p>
          <a:p>
            <a:r>
              <a:rPr lang="en-IN" dirty="0"/>
              <a:t>The transformed data is staged in a PostgreSQL database server.</a:t>
            </a:r>
          </a:p>
          <a:p>
            <a:r>
              <a:rPr lang="en-IN" dirty="0"/>
              <a:t>Every update is recorded in the project’s Git repository.</a:t>
            </a:r>
          </a:p>
          <a:p>
            <a:r>
              <a:rPr lang="en-IN" dirty="0"/>
              <a:t>Full warehouse implementation, visualizations and star schema are not feasible for the scope of sprints 0 and 1 and will be deferred to sprints 2 and 3.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19978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FADD5-862D-9EF0-7919-EB9D047B0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Charter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478B57-00CD-A98C-4BF5-A9A2A3E1C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Objective: Design centralized </a:t>
            </a:r>
            <a:r>
              <a:rPr lang="en-IN" b="1" dirty="0"/>
              <a:t>enterprise healthcare data platform</a:t>
            </a:r>
          </a:p>
          <a:p>
            <a:r>
              <a:rPr lang="en-IN" dirty="0"/>
              <a:t>Problem: Fragmented healthcare data</a:t>
            </a:r>
          </a:p>
          <a:p>
            <a:r>
              <a:rPr lang="en-IN" dirty="0"/>
              <a:t>Dataset: </a:t>
            </a:r>
            <a:r>
              <a:rPr lang="en-IN" b="1" dirty="0"/>
              <a:t>Synthea Synthetic Healthcare Dataset </a:t>
            </a:r>
            <a:r>
              <a:rPr lang="en-IN" dirty="0"/>
              <a:t>– 15 tables (Patients, Encounters, Providers, Organizations, Conditions, Allergies, Observations, Procedures, Medications, Immunizations, </a:t>
            </a:r>
            <a:r>
              <a:rPr lang="en-IN" dirty="0" err="1"/>
              <a:t>Careplans</a:t>
            </a:r>
            <a:r>
              <a:rPr lang="en-IN" dirty="0"/>
              <a:t>, Imaging Studies, Devices, Payers, Payer Transitions)</a:t>
            </a:r>
          </a:p>
          <a:p>
            <a:r>
              <a:rPr lang="en-IN" dirty="0"/>
              <a:t>Methodology: 3-month </a:t>
            </a:r>
            <a:r>
              <a:rPr lang="en-IN" b="1" dirty="0"/>
              <a:t>Agile Scrum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207233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73CD-52CE-F1CD-CA38-0DCB77F6D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2990D70-0218-0595-C115-7BDAC2431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19507" y="1270000"/>
            <a:ext cx="5352986" cy="5243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993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74D2C-7F63-4A15-5C07-E26B21DAD4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442453"/>
            <a:ext cx="8596668" cy="5598910"/>
          </a:xfrm>
        </p:spPr>
        <p:txBody>
          <a:bodyPr/>
          <a:lstStyle/>
          <a:p>
            <a:r>
              <a:rPr lang="en-IN" dirty="0"/>
              <a:t>We collect data from multiple fields in healthcare like </a:t>
            </a:r>
            <a:r>
              <a:rPr lang="en-IN" b="1" dirty="0"/>
              <a:t>patient record</a:t>
            </a:r>
            <a:r>
              <a:rPr lang="en-IN" dirty="0"/>
              <a:t>s and </a:t>
            </a:r>
            <a:r>
              <a:rPr lang="en-IN" b="1" dirty="0"/>
              <a:t>operational history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Pentaho Data Integration is used to ingest these data sources. With relevant transformations, the data is </a:t>
            </a:r>
            <a:r>
              <a:rPr lang="en-IN" b="1" dirty="0"/>
              <a:t>cleaned, validated and standardized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The transformed data is loaded into a PostgreSQL server which serves as a </a:t>
            </a:r>
            <a:r>
              <a:rPr lang="en-IN" b="1" dirty="0"/>
              <a:t>data warehouse</a:t>
            </a:r>
            <a:r>
              <a:rPr lang="en-IN" dirty="0"/>
              <a:t>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This data is maintained as a database for use in </a:t>
            </a:r>
            <a:r>
              <a:rPr lang="en-IN" b="1" dirty="0"/>
              <a:t>patient analytics, executive reports and hospital operations.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Metadata of the schemas, audit logs of database updates and data lineage are maintained in the same server, separate from the database.</a:t>
            </a:r>
          </a:p>
        </p:txBody>
      </p:sp>
    </p:spTree>
    <p:extLst>
      <p:ext uri="{BB962C8B-B14F-4D97-AF65-F5344CB8AC3E}">
        <p14:creationId xmlns:p14="http://schemas.microsoft.com/office/powerpoint/2010/main" val="363718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7D2E6-1ABB-265E-E883-3D7E7F73F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Datasets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461A25-3422-84B4-01F4-60C230D54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platform’s database consists of </a:t>
            </a:r>
            <a:r>
              <a:rPr lang="en-IN" b="1" dirty="0"/>
              <a:t>15 separate CSV files </a:t>
            </a:r>
            <a:r>
              <a:rPr lang="en-IN" dirty="0"/>
              <a:t>of healthcare data in a variety of fields from patient records to lab tests and insurance timelines.</a:t>
            </a:r>
          </a:p>
          <a:p>
            <a:r>
              <a:rPr lang="en-IN" dirty="0"/>
              <a:t>There are </a:t>
            </a:r>
            <a:r>
              <a:rPr lang="en-IN" b="1" dirty="0"/>
              <a:t>relations</a:t>
            </a:r>
            <a:r>
              <a:rPr lang="en-IN" dirty="0"/>
              <a:t> between pairs of datasets (tables) enabled by </a:t>
            </a:r>
            <a:r>
              <a:rPr lang="en-IN" b="1" dirty="0"/>
              <a:t>foreign keys</a:t>
            </a:r>
            <a:r>
              <a:rPr lang="en-IN" dirty="0"/>
              <a:t>. For example, the Conditions table has a foreign key, the patient ID from Patients, that denotes who has the condition.</a:t>
            </a:r>
          </a:p>
        </p:txBody>
      </p:sp>
    </p:spTree>
    <p:extLst>
      <p:ext uri="{BB962C8B-B14F-4D97-AF65-F5344CB8AC3E}">
        <p14:creationId xmlns:p14="http://schemas.microsoft.com/office/powerpoint/2010/main" val="257818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092EA-4109-5EB0-1656-5D00E727B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of Datasets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43AE89-8161-F0A2-9564-AC0FE8613C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87349432"/>
              </p:ext>
            </p:extLst>
          </p:nvPr>
        </p:nvGraphicFramePr>
        <p:xfrm>
          <a:off x="510713" y="1"/>
          <a:ext cx="8596668" cy="67114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98334">
                  <a:extLst>
                    <a:ext uri="{9D8B030D-6E8A-4147-A177-3AD203B41FA5}">
                      <a16:colId xmlns:a16="http://schemas.microsoft.com/office/drawing/2014/main" val="2782099094"/>
                    </a:ext>
                  </a:extLst>
                </a:gridCol>
                <a:gridCol w="4298334">
                  <a:extLst>
                    <a:ext uri="{9D8B030D-6E8A-4147-A177-3AD203B41FA5}">
                      <a16:colId xmlns:a16="http://schemas.microsoft.com/office/drawing/2014/main" val="4281278999"/>
                    </a:ext>
                  </a:extLst>
                </a:gridCol>
              </a:tblGrid>
              <a:tr h="354585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solidFill>
                            <a:srgbClr val="002060"/>
                          </a:solidFill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3447994"/>
                  </a:ext>
                </a:extLst>
              </a:tr>
              <a:tr h="676458">
                <a:tc>
                  <a:txBody>
                    <a:bodyPr/>
                    <a:lstStyle/>
                    <a:p>
                      <a:pPr algn="just"/>
                      <a:r>
                        <a:rPr lang="en-IN" dirty="0"/>
                        <a:t>Patients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descriptive, demographic, geographic and insurance data of patients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682022"/>
                  </a:ext>
                </a:extLst>
              </a:tr>
              <a:tr h="620523">
                <a:tc>
                  <a:txBody>
                    <a:bodyPr/>
                    <a:lstStyle/>
                    <a:p>
                      <a:r>
                        <a:rPr lang="en-IN" dirty="0"/>
                        <a:t>Conditions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Records of hospital visits, chief complaints, date and cost of visit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8943078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Allergies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Allergies documented in patients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6840609"/>
                  </a:ext>
                </a:extLst>
              </a:tr>
              <a:tr h="620523">
                <a:tc>
                  <a:txBody>
                    <a:bodyPr/>
                    <a:lstStyle/>
                    <a:p>
                      <a:r>
                        <a:rPr lang="en-IN" dirty="0"/>
                        <a:t>Encounters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Appointments of patients to doctors at hospitals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82345377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Providers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Data of healthcare practitioners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6105347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Organizations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Geographics and financials of hospitals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438913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Procedures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Treatments for each appointment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862998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Medications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Medicines prescribed in an encounter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8084430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Imaging Studies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Description of diagnostic medical scans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599243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Observations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Records of medical lab tests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239073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Devices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Technology used in appointments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684821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Immunizations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Vaccines taken by patients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708993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 err="1"/>
                        <a:t>Careplans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Management plans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2970281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Payers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Insurance providers with financials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5892468"/>
                  </a:ext>
                </a:extLst>
              </a:tr>
              <a:tr h="354585">
                <a:tc>
                  <a:txBody>
                    <a:bodyPr/>
                    <a:lstStyle/>
                    <a:p>
                      <a:r>
                        <a:rPr lang="en-IN" dirty="0"/>
                        <a:t>Payer Transitions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Patient ownership of insurance deals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9058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07397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CBA1C-2A6E-E07E-58D7-3EC4102A9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172" y="2768600"/>
            <a:ext cx="8596668" cy="132080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1848456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F6FDF-CCC6-213B-DE66-2E78E6BA6F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Credits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F13A7-8451-106A-628E-9FDF65288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Business Requirements Document (BRD) – </a:t>
            </a:r>
            <a:r>
              <a:rPr lang="en-IN" b="1" dirty="0"/>
              <a:t>Harish G.</a:t>
            </a:r>
          </a:p>
          <a:p>
            <a:r>
              <a:rPr lang="en-IN" dirty="0"/>
              <a:t>Solution Architecture – </a:t>
            </a:r>
            <a:r>
              <a:rPr lang="en-IN" b="1" dirty="0"/>
              <a:t>Smrithi Rajan</a:t>
            </a:r>
          </a:p>
          <a:p>
            <a:r>
              <a:rPr lang="en-IN" dirty="0"/>
              <a:t>Git Repository – </a:t>
            </a:r>
            <a:r>
              <a:rPr lang="en-IN" b="1" dirty="0"/>
              <a:t>Harish G.</a:t>
            </a:r>
          </a:p>
          <a:p>
            <a:r>
              <a:rPr lang="en-IN" dirty="0"/>
              <a:t>Project Charter – </a:t>
            </a:r>
            <a:r>
              <a:rPr lang="en-IN" b="1" dirty="0" err="1"/>
              <a:t>Febi</a:t>
            </a:r>
            <a:r>
              <a:rPr lang="en-IN" b="1" dirty="0"/>
              <a:t> Sarju</a:t>
            </a:r>
          </a:p>
          <a:p>
            <a:r>
              <a:rPr lang="en-IN" dirty="0"/>
              <a:t>Sprint Backlog – </a:t>
            </a:r>
            <a:r>
              <a:rPr lang="en-IN" b="1" dirty="0" err="1"/>
              <a:t>Febi</a:t>
            </a:r>
            <a:r>
              <a:rPr lang="en-IN" b="1" dirty="0"/>
              <a:t> Sarju</a:t>
            </a:r>
          </a:p>
          <a:p>
            <a:r>
              <a:rPr lang="en-IN" dirty="0"/>
              <a:t>Presentation – </a:t>
            </a:r>
            <a:r>
              <a:rPr lang="en-IN" b="1" dirty="0"/>
              <a:t>Smrithi Rajan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873501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TM02900688[[fn=Facet]]</Template>
  <TotalTime>132</TotalTime>
  <Words>595</Words>
  <Application>Microsoft Office PowerPoint</Application>
  <PresentationFormat>Widescreen</PresentationFormat>
  <Paragraphs>92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Trebuchet MS</vt:lpstr>
      <vt:lpstr>Wingdings 3</vt:lpstr>
      <vt:lpstr>Facet</vt:lpstr>
      <vt:lpstr>MACSE503: Enterprise Healthcare Data Platform</vt:lpstr>
      <vt:lpstr>Introduction</vt:lpstr>
      <vt:lpstr>To understand the healthcare ecosystem and design an enterprise health data platform that aggregates, prepares and encapsulates datasets from different aspects of health.</vt:lpstr>
      <vt:lpstr>Technology Stack</vt:lpstr>
      <vt:lpstr>Project Scope</vt:lpstr>
      <vt:lpstr>Project Charter</vt:lpstr>
      <vt:lpstr>Architecture Diagram</vt:lpstr>
      <vt:lpstr>PowerPoint Presentation</vt:lpstr>
      <vt:lpstr>Datasets</vt:lpstr>
      <vt:lpstr>List of Datasets</vt:lpstr>
      <vt:lpstr>Thank You</vt:lpstr>
      <vt:lpstr>Credits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Smirivatsan Rajan</dc:creator>
  <cp:lastModifiedBy>Smirivatsan Rajan</cp:lastModifiedBy>
  <cp:revision>9</cp:revision>
  <dcterms:created xsi:type="dcterms:W3CDTF">2026-08-20T06:10:56Z</dcterms:created>
  <dcterms:modified xsi:type="dcterms:W3CDTF">2026-08-21T06:42:08Z</dcterms:modified>
</cp:coreProperties>
</file>